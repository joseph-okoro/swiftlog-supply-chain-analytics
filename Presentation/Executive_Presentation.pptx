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Calibri"/>
              </a:rPr>
              <a:t>Sales by month (₦ 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(₦ millions)</c:v>
                </c:pt>
              </c:strCache>
            </c:strRef>
          </c:tx>
          <c:spPr>
            <a:solidFill>
              <a:srgbClr val="0F9D58"/>
            </a:solidFill>
            <a:ln w="38100" cap="flat">
              <a:solidFill>
                <a:srgbClr val="0F9D5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9D58"/>
              </a:solidFill>
              <a:ln w="9525" cap="flat">
                <a:solidFill>
                  <a:srgbClr val="0F9D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1.63</c:v>
                </c:pt>
                <c:pt idx="1">
                  <c:v>1.7</c:v>
                </c:pt>
                <c:pt idx="2">
                  <c:v>1.75</c:v>
                </c:pt>
                <c:pt idx="3">
                  <c:v>1.8</c:v>
                </c:pt>
                <c:pt idx="4">
                  <c:v>1.84</c:v>
                </c:pt>
                <c:pt idx="5">
                  <c:v>1.77</c:v>
                </c:pt>
                <c:pt idx="6">
                  <c:v>1.54</c:v>
                </c:pt>
                <c:pt idx="7">
                  <c:v>2.03</c:v>
                </c:pt>
                <c:pt idx="8">
                  <c:v>0.38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9D58"/>
              </a:solidFill>
              <a:effectLst/>
            </c:spPr>
          </c:dPt>
          <c:dPt>
            <c:idx val="1"/>
            <c:bubble3D val="0"/>
            <c:spPr>
              <a:solidFill>
                <a:srgbClr val="E8A317"/>
              </a:solidFill>
              <a:effectLst/>
            </c:spPr>
          </c:dPt>
          <c:dPt>
            <c:idx val="2"/>
            <c:bubble3D val="0"/>
            <c:spPr>
              <a:solidFill>
                <a:srgbClr val="C628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Pending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1658</c:v>
                </c:pt>
                <c:pt idx="1">
                  <c:v>1716</c:v>
                </c:pt>
                <c:pt idx="2">
                  <c:v>1626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D293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Calibri"/>
              </a:rPr>
              <a:t>New customers per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</c:v>
                </c:pt>
              </c:strCache>
            </c:strRef>
          </c:tx>
          <c:spPr>
            <a:solidFill>
              <a:srgbClr val="0F9D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307</c:v>
                </c:pt>
                <c:pt idx="1">
                  <c:v>230</c:v>
                </c:pt>
                <c:pt idx="2">
                  <c:v>138</c:v>
                </c:pt>
                <c:pt idx="3">
                  <c:v>101</c:v>
                </c:pt>
                <c:pt idx="4">
                  <c:v>70</c:v>
                </c:pt>
                <c:pt idx="5">
                  <c:v>42</c:v>
                </c:pt>
                <c:pt idx="6">
                  <c:v>37</c:v>
                </c:pt>
                <c:pt idx="7">
                  <c:v>30</c:v>
                </c:pt>
                <c:pt idx="8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Calibri"/>
              </a:rPr>
              <a:t>Sales by category (₦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(₦ millions)</c:v>
                </c:pt>
              </c:strCache>
            </c:strRef>
          </c:tx>
          <c:spPr>
            <a:solidFill>
              <a:srgbClr val="0F9D5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Fashion</c:v>
                  </c:pt>
                  <c:pt idx="1">
                    <c:v>Food</c:v>
                  </c:pt>
                  <c:pt idx="2">
                    <c:v>Electronics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5.41</c:v>
                </c:pt>
                <c:pt idx="1">
                  <c:v>4.74</c:v>
                </c:pt>
                <c:pt idx="2">
                  <c:v>4.29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9D58"/>
              </a:solidFill>
              <a:effectLst/>
            </c:spPr>
          </c:dPt>
          <c:dPt>
            <c:idx val="1"/>
            <c:bubble3D val="0"/>
            <c:spPr>
              <a:solidFill>
                <a:srgbClr val="C628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 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617</c:v>
                </c:pt>
                <c:pt idx="1">
                  <c:v>1041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D293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Calibri"/>
              </a:rPr>
              <a:t>Deliveries on time, by customer city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deliveries (%)</c:v>
                </c:pt>
              </c:strCache>
            </c:strRef>
          </c:tx>
          <c:spPr>
            <a:solidFill>
              <a:srgbClr val="0F9D5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Ibadan</c:v>
                  </c:pt>
                  <c:pt idx="1">
                    <c:v>Lagos</c:v>
                  </c:pt>
                  <c:pt idx="2">
                    <c:v>Abuja</c:v>
                  </c:pt>
                  <c:pt idx="3">
                    <c:v>Kano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40.9</c:v>
                </c:pt>
                <c:pt idx="1">
                  <c:v>38.2</c:v>
                </c:pt>
                <c:pt idx="2">
                  <c:v>37.2</c:v>
                </c:pt>
                <c:pt idx="3">
                  <c:v>32.9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Calibri"/>
              </a:rPr>
              <a:t>Why orders were returned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Returned orders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Wrong item</c:v>
                  </c:pt>
                  <c:pt idx="1">
                    <c:v>Damaged</c:v>
                  </c:pt>
                  <c:pt idx="2">
                    <c:v>Late delivery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53</c:v>
                </c:pt>
                <c:pt idx="2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939"/>
                </a:solidFill>
                <a:latin typeface="Calibri"/>
              </a:rPr>
              <a:t>How full each warehouse is (%), assuming 80,000 units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full (%)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F9D58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W12</c:v>
                  </c:pt>
                  <c:pt idx="1">
                    <c:v>W02</c:v>
                  </c:pt>
                  <c:pt idx="2">
                    <c:v>W11</c:v>
                  </c:pt>
                  <c:pt idx="3">
                    <c:v>W14</c:v>
                  </c:pt>
                  <c:pt idx="4">
                    <c:v>W04</c:v>
                  </c:pt>
                  <c:pt idx="5">
                    <c:v>W06</c:v>
                  </c:pt>
                  <c:pt idx="6">
                    <c:v>W07</c:v>
                  </c:pt>
                  <c:pt idx="7">
                    <c:v>W10</c:v>
                  </c:pt>
                  <c:pt idx="8">
                    <c:v>W08</c:v>
                  </c:pt>
                  <c:pt idx="9">
                    <c:v>W03</c:v>
                  </c:pt>
                  <c:pt idx="10">
                    <c:v>W09</c:v>
                  </c:pt>
                  <c:pt idx="11">
                    <c:v>W13</c:v>
                  </c:pt>
                  <c:pt idx="12">
                    <c:v>W05</c:v>
                  </c:pt>
                  <c:pt idx="13">
                    <c:v>W15</c:v>
                  </c:pt>
                  <c:pt idx="14">
                    <c:v>W01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96.9</c:v>
                </c:pt>
                <c:pt idx="1">
                  <c:v>91</c:v>
                </c:pt>
                <c:pt idx="2">
                  <c:v>89.3</c:v>
                </c:pt>
                <c:pt idx="3">
                  <c:v>87.4</c:v>
                </c:pt>
                <c:pt idx="4">
                  <c:v>87.1</c:v>
                </c:pt>
                <c:pt idx="5">
                  <c:v>86.5</c:v>
                </c:pt>
                <c:pt idx="6">
                  <c:v>85.4</c:v>
                </c:pt>
                <c:pt idx="7">
                  <c:v>84</c:v>
                </c:pt>
                <c:pt idx="8">
                  <c:v>83.7</c:v>
                </c:pt>
                <c:pt idx="9">
                  <c:v>83.2</c:v>
                </c:pt>
                <c:pt idx="10">
                  <c:v>79.5</c:v>
                </c:pt>
                <c:pt idx="11">
                  <c:v>79</c:v>
                </c:pt>
                <c:pt idx="12">
                  <c:v>78.4</c:v>
                </c:pt>
                <c:pt idx="13">
                  <c:v>76.6</c:v>
                </c:pt>
                <c:pt idx="14">
                  <c:v>70.7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review explains, in plain terms, how SwiftLog performed this year, where it is losing money and time, and what to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demand is healthy, but the business loses a lot between order placed and order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interactive. Everything in this review comes from these five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are growing. August is the peak, so plan stock and delivery capacity before busy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biggest finding. A third of orders are cancelled and a third are still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Loyalty is a strength. Acquiring new customers is the weak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are well spread across products and cities, which reduces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time means delivered within 2 days of the promised date, as defined in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city is below half, but Kano and three warehouses stand out as the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order can have more than one reason, so reasons add to slightly more than the number of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80,000-unit capacity is an assumption, because the data does not include warehouse size. It can be changed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to say what we cannot measure instead of guessing. Collecting these four items would unlock supplier scoring and better stock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are the highest priority because they address the biggest losses: cancellations, waiting orders, late deliveries and stock-outs.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approval of the six priority actions and agreeing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SwiftLog Logistics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supply chain performed, 1 January to 8 September 2026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 for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Okoro Joseph Ifeanyichukwu | AnalystLab Africa Experience Lab, Week 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SwiftLog sells well, but delivers poorly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tat card"/>
          <p:cNvSpPr/>
          <p:nvPr/>
        </p:nvSpPr>
        <p:spPr>
          <a:xfrm>
            <a:off x="45720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₦14.44M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from orders that were not cancelled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326898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3898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delivered so far (33%)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608076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8988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deliveries arrive on time</a:t>
            </a:r>
            <a:endParaRPr lang="en-US" sz="1400" dirty="0"/>
          </a:p>
        </p:txBody>
      </p:sp>
      <p:sp>
        <p:nvSpPr>
          <p:cNvPr id="14" name="Key points"/>
          <p:cNvSpPr txBox="1"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loyal: almost 9 in 10 buyers come 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orders was cancelled, and 1 in 3 is still waiting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10 delivered orders is sent 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warehouses are nearly full while most stock sits unsold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five pages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Executive dashboard screenshot" descr="Executive dashboard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3227832"/>
          </a:xfrm>
          <a:prstGeom prst="rect">
            <a:avLst/>
          </a:prstGeom>
        </p:spPr>
      </p:pic>
      <p:sp>
        <p:nvSpPr>
          <p:cNvPr id="6" name="Key points"/>
          <p:cNvSpPr txBox="1"/>
          <p:nvPr/>
        </p:nvSpPr>
        <p:spPr>
          <a:xfrm>
            <a:off x="5852160" y="13258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Executive: the whole business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who buys and how often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stock and warehouses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Deliveries: speed and delays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what sells, plus returns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month, city or warehouse.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grew steadily and peaked in August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297680" y="123444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ey points"/>
          <p:cNvSpPr txBox="1"/>
          <p:nvPr/>
        </p:nvSpPr>
        <p:spPr>
          <a:xfrm>
            <a:off x="457200" y="13258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₦14.44M in total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was the best month: ₦2.03M, about 16% above the early-year average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dipped to ₦1.54M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*September is low only because our data stops on 8 September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1 in 3 orders is delivered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ey points"/>
          <p:cNvSpPr txBox="1"/>
          <p:nvPr/>
        </p:nvSpPr>
        <p:spPr>
          <a:xfrm>
            <a:off x="4754880" y="132588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Delivered: 1,658 orders, about ₦7.1M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1,716 orders, about ₦7.3M still waiting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Cancelled: 1,626 orders, about ₦7.2M lost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half of the ₦14.44M in sales has actually been delivered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come back, but new ones are drying up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tat card"/>
          <p:cNvSpPr/>
          <p:nvPr/>
        </p:nvSpPr>
        <p:spPr>
          <a:xfrm>
            <a:off x="457200" y="12801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order more than once</a:t>
            </a:r>
            <a:endParaRPr lang="en-US" sz="1400" dirty="0"/>
          </a:p>
        </p:txBody>
      </p:sp>
      <p:sp>
        <p:nvSpPr>
          <p:cNvPr id="8" name="Key points"/>
          <p:cNvSpPr txBox="1"/>
          <p:nvPr/>
        </p:nvSpPr>
        <p:spPr>
          <a:xfrm>
            <a:off x="457200" y="28803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841 of 959 buyers ordered at least twice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biggest customers make up only 3.3% of sales, so no single customer is critical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fell from 307 in January to about 30 a month by August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663440" y="123444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leads, and no single product dominates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ey points"/>
          <p:cNvSpPr txBox="1"/>
          <p:nvPr/>
        </p:nvSpPr>
        <p:spPr>
          <a:xfrm>
            <a:off x="493776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brings in 37.5% of sales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best products together make up only 8% of sales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 by quantity: P132 (347 units)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earner: P085 (₦143K)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city: Kano (₦3.87M), but all four cities are close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37 in 100 deliveries arrive on time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 card"/>
          <p:cNvSpPr/>
          <p:nvPr/>
        </p:nvSpPr>
        <p:spPr>
          <a:xfrm>
            <a:off x="475488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92040" y="1389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days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lateness of a late delivery</a:t>
            </a:r>
            <a:endParaRPr lang="en-US" sz="1400" dirty="0"/>
          </a:p>
        </p:txBody>
      </p:sp>
      <p:sp>
        <p:nvSpPr>
          <p:cNvPr id="9" name="Key points"/>
          <p:cNvSpPr txBox="1"/>
          <p:nvPr/>
        </p:nvSpPr>
        <p:spPr>
          <a:xfrm>
            <a:off x="4754880" y="2834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 of 1,658 delivered orders were on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 is spread evenly from 3 to 7 days, so it is a regular problem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should expect about 6 to 7 days, not 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Kano is the slowest city for deliveries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ey points"/>
          <p:cNvSpPr txBox="1"/>
          <p:nvPr/>
        </p:nvSpPr>
        <p:spPr>
          <a:xfrm>
            <a:off x="493776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Kano: only 33% on time (292 of 435 deliveries late)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Ibadan is best at 41%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warehouses: W13, W06 and W08 (about 30% on time)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warehouse: W15 (42%)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1 in 10 delivered orders comes back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ey points"/>
          <p:cNvSpPr txBox="1"/>
          <p:nvPr/>
        </p:nvSpPr>
        <p:spPr>
          <a:xfrm>
            <a:off x="493776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delivered orders were returned: 9.5%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is the most common reason given (63)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late orders are not returned more often than on-time ones (about 9.5% each)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Abuja has the highest return rate: 11.5%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warehouses are almost full while most stock sits unsold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ey points"/>
          <p:cNvSpPr txBox="1"/>
          <p:nvPr/>
        </p:nvSpPr>
        <p:spPr>
          <a:xfrm>
            <a:off x="5669280" y="13258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 is 97% full and W02 is 91% full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holds 1.01M units but sold only 55,390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product lines are almost out (under 50 units); 3 are completely out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not judge suppliers: the data does not say who supplies what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Gap card 1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link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150 suppliers are not linked to any product, so supplier performance cannot be measured</a:t>
            </a:r>
            <a:endParaRPr lang="en-US" sz="1400" dirty="0"/>
          </a:p>
        </p:txBody>
      </p:sp>
      <p:sp>
        <p:nvSpPr>
          <p:cNvPr id="8" name="Gap card 2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dates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has no date, so we cannot see whether stock is growing or shrinking</a:t>
            </a:r>
            <a:endParaRPr lang="en-US" sz="1400" dirty="0"/>
          </a:p>
        </p:txBody>
      </p:sp>
      <p:sp>
        <p:nvSpPr>
          <p:cNvPr id="11" name="Gap card 3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dates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know how many days late, not when goods left or arrived</a:t>
            </a:r>
            <a:endParaRPr lang="en-US" sz="1400" dirty="0"/>
          </a:p>
        </p:txBody>
      </p:sp>
      <p:sp>
        <p:nvSpPr>
          <p:cNvPr id="14" name="Gap card 4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Returned products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do not say which product came back, or what it cost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to do first</a:t>
            </a: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| Business Review</a:t>
            </a:r>
            <a:endParaRPr lang="en-US" sz="1000" dirty="0"/>
          </a:p>
        </p:txBody>
      </p:sp>
      <p:sp>
        <p:nvSpPr>
          <p:cNvPr id="4" name="Page number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Action card 1"/>
          <p:cNvSpPr/>
          <p:nvPr/>
        </p:nvSpPr>
        <p:spPr>
          <a:xfrm>
            <a:off x="45720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Number badge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cancellations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116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orders is cancelled. Aim for under 20%.</a:t>
            </a:r>
            <a:endParaRPr lang="en-US" sz="1400" dirty="0"/>
          </a:p>
        </p:txBody>
      </p:sp>
      <p:sp>
        <p:nvSpPr>
          <p:cNvPr id="10" name="Action card 2"/>
          <p:cNvSpPr/>
          <p:nvPr/>
        </p:nvSpPr>
        <p:spPr>
          <a:xfrm>
            <a:off x="324612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Number badge"/>
          <p:cNvSpPr/>
          <p:nvPr/>
        </p:nvSpPr>
        <p:spPr>
          <a:xfrm>
            <a:off x="3383280" y="1417320"/>
            <a:ext cx="411480" cy="4114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waiting orders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0116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1,716 orders are pending. Ship within 48 hours.</a:t>
            </a:r>
            <a:endParaRPr lang="en-US" sz="1400" dirty="0"/>
          </a:p>
        </p:txBody>
      </p:sp>
      <p:sp>
        <p:nvSpPr>
          <p:cNvPr id="15" name="Action card 3"/>
          <p:cNvSpPr/>
          <p:nvPr/>
        </p:nvSpPr>
        <p:spPr>
          <a:xfrm>
            <a:off x="603504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Number badge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on time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0116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on time today. Aim for 60%.</a:t>
            </a:r>
            <a:endParaRPr lang="en-US" sz="1400" dirty="0"/>
          </a:p>
        </p:txBody>
      </p:sp>
      <p:sp>
        <p:nvSpPr>
          <p:cNvPr id="20" name="Action card 4"/>
          <p:cNvSpPr/>
          <p:nvPr/>
        </p:nvSpPr>
        <p:spPr>
          <a:xfrm>
            <a:off x="45720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Number badge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Kano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33% on time. Add couriers or a pickup point.</a:t>
            </a:r>
            <a:endParaRPr lang="en-US" sz="1400" dirty="0"/>
          </a:p>
        </p:txBody>
      </p:sp>
      <p:sp>
        <p:nvSpPr>
          <p:cNvPr id="25" name="Action card 5"/>
          <p:cNvSpPr/>
          <p:nvPr/>
        </p:nvSpPr>
        <p:spPr>
          <a:xfrm>
            <a:off x="324612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6" name="Number badge"/>
          <p:cNvSpPr/>
          <p:nvPr/>
        </p:nvSpPr>
        <p:spPr>
          <a:xfrm>
            <a:off x="3383280" y="3154680"/>
            <a:ext cx="411480" cy="4114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Refill almost-empty items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lines under 50 units. Refill at 50.</a:t>
            </a:r>
            <a:endParaRPr lang="en-US" sz="1400" dirty="0"/>
          </a:p>
        </p:txBody>
      </p:sp>
      <p:sp>
        <p:nvSpPr>
          <p:cNvPr id="30" name="Action card 6"/>
          <p:cNvSpPr/>
          <p:nvPr/>
        </p:nvSpPr>
        <p:spPr>
          <a:xfrm>
            <a:off x="603504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1" name="Number badge"/>
          <p:cNvSpPr/>
          <p:nvPr/>
        </p:nvSpPr>
        <p:spPr>
          <a:xfrm>
            <a:off x="6172200" y="3154680"/>
            <a:ext cx="411480" cy="4114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the stock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stock from W12 and W02 to W01 and W15.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recommended, and what happens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recommended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three slowest warehouses (W13, W06, W08)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realistic delivery dates: 6 to 7 days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less of what does not sell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returns, starting with Abuja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new customers with referral offers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busy months such as August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missing data (suppliers, dates)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459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six priority actions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action an owner and a 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dashboard every week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these numbers in 90 days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capacity (80,000 units per warehouse) and the 3-day delivery window are assumptions. Data ends on 8 September 2026.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Business Review</dc:title>
  <dc:subject>PptxGenJS Presentation</dc:subject>
  <dc:creator>Okoro Joseph Ifeanyichukwu</dc:creator>
  <cp:lastModifiedBy>Okoro Joseph Ifeanyichukwu</cp:lastModifiedBy>
  <cp:revision>1</cp:revision>
  <dcterms:created xsi:type="dcterms:W3CDTF">2026-10-18T21:06:55Z</dcterms:created>
  <dcterms:modified xsi:type="dcterms:W3CDTF">2026-10-18T21:06:55Z</dcterms:modified>
</cp:coreProperties>
</file>